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0" y="109728"/>
            <a:ext cx="822960" cy="347472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5511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9911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54311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8711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1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914400"/>
            <a:ext cx="1728216" cy="27432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950976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9D0C3"/>
                </a:solidFill>
              </a:defRPr>
            </a:pPr>
            <a:r>
              <a:t>CURRENT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544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서울시 지하철 유동인구와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945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상권 매출의 상관관계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SCQA 기반 데이터 분석을 통한 창업 입지 추천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2011680" cy="36576"/>
          </a:xfrm>
          <a:prstGeom prst="rect">
            <a:avLst/>
          </a:prstGeom>
          <a:solidFill>
            <a:srgbClr val="39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이어드림스쿨 6기  |  데이터 분석 프로젝트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097280"/>
            <a:ext cx="4114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1188720"/>
            <a:ext cx="3785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</a:defRPr>
            </a:pPr>
            <a:r>
              <a:t>ANALYZED STATIONS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1389888"/>
            <a:ext cx="3785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239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212848"/>
            <a:ext cx="4114800" cy="2560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54112" y="2231136"/>
            <a:ext cx="3785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</a:defRPr>
            </a:pPr>
            <a:r>
              <a:t>  전체 528개 역 중 상권 매칭 완료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651760"/>
            <a:ext cx="4114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2743200"/>
            <a:ext cx="3785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</a:defRPr>
            </a:pPr>
            <a:r>
              <a:t>COMMERCIAL AREAS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2" y="2944368"/>
            <a:ext cx="3785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1,577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767328"/>
            <a:ext cx="4114800" cy="2560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54112" y="3785616"/>
            <a:ext cx="3785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</a:defRPr>
            </a:pPr>
            <a:r>
              <a:t>  62개 업종 데이터 보유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206240"/>
            <a:ext cx="4114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4297679"/>
            <a:ext cx="3785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</a:defRPr>
            </a:pPr>
            <a:r>
              <a:t>DAILY PASSENGERS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4498848"/>
            <a:ext cx="3785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1,200만+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5321807"/>
            <a:ext cx="411480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54112" y="5340096"/>
            <a:ext cx="3785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</a:defRPr>
            </a:pPr>
            <a:r>
              <a:t>  서울 지하철 총 이용객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프로젝트개요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2029968" cy="274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1801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</a:defRPr>
            </a:pPr>
            <a:r>
              <a:t>EXECUTIVE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프로젝트 개요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691640"/>
            <a:ext cx="11247120" cy="13716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🎯 Key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</a:defRPr>
            </a:pPr>
            <a:r>
              <a:t>유동인구가 많은 역이 반드시 매출이 높은 상권은 아닙니다.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560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진정한 살아있는 상권은 사람이 지나가는 곳이 아니라, 실제 소비와 매출이 발생하는 곳입니다.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83280"/>
            <a:ext cx="2651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회귀분석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R² = 0.164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유동인구는 매출의</a:t>
            </a:r>
            <a:br/>
            <a:r>
              <a:t>16.4%만 설명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383280"/>
            <a:ext cx="2651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4747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유의성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p &lt; 0.001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통계적 유의미하나</a:t>
            </a:r>
            <a:br/>
            <a:r>
              <a:t>설명력 낮음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383280"/>
            <a:ext cx="2651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4747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Spearman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ρ = 0.574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순위 일치도 불완전</a:t>
            </a:r>
            <a:br/>
            <a:r>
              <a:t>완벽한 상관 아님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383280"/>
            <a:ext cx="2651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59" y="34747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순위 비교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59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TOP10 격차 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59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승객 10위권 역</a:t>
            </a:r>
            <a:br/>
            <a:r>
              <a:t>매출 순위 편차 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577840"/>
            <a:ext cx="112471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715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Recommendation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유동인구만으로 입지를 판단하지 말고, 실제 매출 데이터를 함께 분석해야 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 출처: 서울열린데이터광장, 공공데이터포털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프로젝트개요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923544" cy="274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694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</a:defRPr>
            </a:pPr>
            <a:r>
              <a:t>AGENDA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발표 순서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1755648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프로젝트 개요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0116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데이터 수집 및 분석 방법론 소개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317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2468879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데이터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72491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지하철 + 상권 데이터 전처리 및 현황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44951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182112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1638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SCQA 프레임워크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43814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상황 → 문제 → 질문 → 가설 도출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5818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3895344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8770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통계분석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151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회귀분석 · 상관분석 · t-test · ANOVA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471416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" y="4608575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핵심 인사이트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864607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알짜 상권 vs 거품 상권 식별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184648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5321808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창업 입지 추천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577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데이터 기반 Action Plan 및 추천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9788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6개 세션 · 약 15분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데이터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데이터분석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1627631" cy="274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1399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</a:defRPr>
            </a:pPr>
            <a:r>
              <a:t>DATA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분석에 사용된 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64592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645920"/>
            <a:ext cx="3474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</a:defRPr>
            </a:pPr>
            <a:r>
              <a:t>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지하철 승하차 데이터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서울열린데이터광장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697480"/>
            <a:ext cx="292608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528개 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27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2026년 5월 일별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198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19,131개 레코드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124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승차/하차 인원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64592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1645920"/>
            <a:ext cx="3474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</a:defRPr>
            </a:pPr>
            <a:r>
              <a:t>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상권 매출 데이터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46888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서울열린데이터광장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697480"/>
            <a:ext cx="292608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1,577개 상권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127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2025년 분기별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4198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85,732개 레코드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7124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62개 업종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164592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1645920"/>
            <a:ext cx="3474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</a:defRPr>
            </a:pPr>
            <a:r>
              <a:t>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역 위치 정보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46888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GitHub + 공공데이터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2697480"/>
            <a:ext cx="292608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255개 역 좌표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127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위도/경도 정보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4198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주소-행정동 매핑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7124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역명 정규화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669280"/>
            <a:ext cx="1124712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</a:defRPr>
            </a:pPr>
            <a:r>
              <a:t>🔗  데이터 파이프라인: CSV 로드 → 역명 정규화 → "XX역" 패턴 매칭 → 239개 역 연결 완료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역 유형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데이터분석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1527048" cy="274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</a:defRPr>
            </a:pPr>
            <a:r>
              <a:t>STATION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분석 대상 역 유형 분류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69164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783080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</a:defRPr>
            </a:pPr>
            <a:r>
              <a:t>분석 대상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1984248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239개 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15768"/>
            <a:ext cx="3474720" cy="2560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734056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</a:defRPr>
            </a:pPr>
            <a:r>
              <a:t>  전체 528개 중 상권 매칭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69164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1783080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</a:defRPr>
            </a:pPr>
            <a:r>
              <a:t>도착형 (하차&gt;승차)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1984248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67개 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715768"/>
            <a:ext cx="347472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2734056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</a:defRPr>
            </a:pPr>
            <a:r>
              <a:t>  유동인구 유입 · 상업/업무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69164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1783080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</a:defRPr>
            </a:pPr>
            <a:r>
              <a:t>출발형 (승차&gt;하차)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1984248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115개 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2715768"/>
            <a:ext cx="3474720" cy="2560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2734056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</a:defRPr>
            </a:pPr>
            <a:r>
              <a:t>  유동인구 유출 · 주거 지역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역 유형별 특성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6118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611880"/>
            <a:ext cx="45720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</a:defRPr>
            </a:pPr>
            <a:r>
              <a:t>🏙️ 도착형 — 사람이 모이는 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유동인구 유입형, 상업/업무 지역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389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소비 집중, 높은 매출 기대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커피·편의점·한식 강세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937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대표: 강남, 홍대입구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36118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3611880"/>
            <a:ext cx="4572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</a:defRPr>
            </a:pPr>
            <a:r>
              <a:t>🏠 출발형 — 사람이 나가는 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유동인구 유출형, 주거 지역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4389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통근형 소비 중심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출퇴근 시간대 특화 가능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4937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대표: 신도림, 구로디지털단지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36118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38160" y="3611880"/>
            <a:ext cx="4572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</a:defRPr>
            </a:pPr>
            <a:r>
              <a:t>⚖️ 균형형 — 안정적 상권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승하차 비슷, 안정적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389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고른 업종 분포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리스크 분산 유리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937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대표: 역삼, 선릉, 교대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SCQA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1225295" cy="274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996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</a:defRPr>
            </a:pPr>
            <a:r>
              <a:t>SITUATION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상황: 창업 입지로서 지하철역 상권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737360"/>
            <a:ext cx="6858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9202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지하철역 상권의 중요성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37744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서울시는 528개 지하철역을 운영, 하루 약 1,200만 명 이용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역세권은 창업과 프랜차이즈 출점이 가장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활발하게 이루어지는 핵심 입지 중 하나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상권 평가 시 유동인구는 가장 직관적이고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보편적으로 활용되는 핵심 지표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"유동인구가 많은 곳 = 좋은 상권"이라는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인식이 일반적으로 자리잡고 있음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→ 창업자들은 자연스럽게 유동인구가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많은 역을 우선적으로 선호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737360"/>
            <a:ext cx="3931920" cy="1828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💡 핵심 가정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2860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"유동인구가 많으면</a:t>
            </a:r>
            <a:br/>
            <a:r>
              <a:t>소비도 많을 것이다"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이 가정이 과연</a:t>
            </a:r>
            <a:br/>
            <a:r>
              <a:t>항상 성립할까?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840480"/>
            <a:ext cx="3931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3931920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</a:defRPr>
            </a:pPr>
            <a:r>
              <a:t>ANALYZED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4133088"/>
            <a:ext cx="3602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239개 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864607"/>
            <a:ext cx="3931920" cy="2560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6992" y="4882896"/>
            <a:ext cx="3602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</a:defRPr>
            </a:pPr>
            <a:r>
              <a:t>  전체 528개 중 상권 매칭 완료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데이터출처: 서울열린데이터광장, 공공데이터포털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SCQA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1527048" cy="274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F4444"/>
                </a:solidFill>
              </a:defRPr>
            </a:pPr>
            <a:r>
              <a:t>COMPLICATION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문제: 유동인구의 함정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737360"/>
            <a:ext cx="6858000" cy="438912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9202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⚠️ "유동인구가 많으면 매출도 높다"는 가정의 오류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377440"/>
            <a:ext cx="6217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출퇴근/환승 목적의 역은 많은 사람이 지나가지만,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대부분 소비로 이어지지 않고 "스쳐 지나감"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유동인구 ≠ 소비 의향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머무는 시간과 소비 목적이 더 중요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반대로 유동인구는 적지만 목적성 방문객이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많은 역은 오히려 높은 매출 기록 가능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📌 핵심: 유동인구(양)보다 소비 전환율(질)이 중요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737360"/>
            <a:ext cx="39319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</a:defRPr>
            </a:pPr>
            <a:r>
              <a:t>📊 실제 사례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286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❌ 혜화역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5603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승객 11등 → 매출 232등</a:t>
            </a:r>
            <a:br/>
            <a:r>
              <a:t>유동인구는 많지만 소비는 낮음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✅ 가락시장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5661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승객 176등 → 매출 69등</a:t>
            </a:r>
            <a:br/>
            <a:r>
              <a:t>유동인구 적지만 소비 활발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206240"/>
            <a:ext cx="3931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36992" y="4297679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</a:defRPr>
            </a:pPr>
            <a:r>
              <a:t>KEY METRIC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4498848"/>
            <a:ext cx="3602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R² = 0.164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5138927"/>
            <a:ext cx="393192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5157216"/>
            <a:ext cx="3602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</a:defRPr>
            </a:pPr>
            <a:r>
              <a:t>  유동인구→매출 설명력 16.4%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데이터출처: 서울열린데이터광장, 공공데이터포털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SCQA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1124712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A3D"/>
                </a:solidFill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연구 질문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1645920"/>
            <a:ext cx="9418320" cy="2926080"/>
          </a:xfrm>
          <a:prstGeom prst="roundRect">
            <a:avLst/>
          </a:prstGeom>
          <a:solidFill>
            <a:srgbClr val="FFFBEB"/>
          </a:solidFill>
          <a:ln w="381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E293B"/>
                </a:solidFill>
              </a:defRPr>
            </a:pPr>
            <a: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377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"유동인구가 많은 지하철역이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9260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실제 매출도 높은 상권일까?"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576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즉, 유동인구 순위와 매출 순위는 얼마나 일치하는가?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세부 분석 과제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① 유동인구가 매출에 영향을 미치는가? (회귀분석)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② 유동인구 순위와 매출 순위는 일치하는가? (Spearman)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③ 매출 수준별로 유동인구 차이가 있는가? (t-test/ANOVA)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데이터출처: 서울열린데이터광장, 공공데이터포털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SCQA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923544" cy="274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694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가설 설정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645920"/>
            <a:ext cx="11247120" cy="164592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828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핵심 가설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H₁: 유동인구가 많은 역이 반드시 매출이 많은 상권은 아닐 것이다.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651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H₀: 유동인구 순위와 매출 순위 간에 차이가 없다. (귀무가설)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회귀분석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유동인구가 매출에</a:t>
            </a:r>
            <a:br/>
            <a:r>
              <a:t>영향을 미치는가?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독립: 유동인구</a:t>
            </a:r>
            <a:br/>
            <a:r>
              <a:t>종속: 매출액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56616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0" y="3749039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A3D"/>
                </a:solidFill>
              </a:defRPr>
            </a:pPr>
            <a:r>
              <a:t>순위 비교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06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유동인구 순위와</a:t>
            </a:r>
            <a:br/>
            <a:r>
              <a:t>매출 순위는 같은가?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937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Spearman ρ</a:t>
            </a:r>
            <a:br/>
            <a:r>
              <a:t>순위 일치도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56616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80" y="3749039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집단 비교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06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매출 등급별로</a:t>
            </a:r>
            <a:br/>
            <a:r>
              <a:t>유동인구 차이가 있는가?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937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t-test / ANOVA</a:t>
            </a:r>
            <a:br/>
            <a:r>
              <a:t>3개 그룹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데이터출처: 서울열린데이터광장, 공공데이터포털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통계분석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통계분석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2231136" cy="274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</a:defRPr>
            </a:pPr>
            <a:r>
              <a:t>REGRESSION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</a:defRPr>
            </a:pPr>
            <a:r>
              <a:t>회귀분석: 유동인구 → 매출 설명력 검증</a:t>
            </a:r>
          </a:p>
        </p:txBody>
      </p:sp>
      <p:pic>
        <p:nvPicPr>
          <p:cNvPr id="16" name="Picture 15" descr="scatt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7772400" cy="496756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412480" y="1554480"/>
            <a:ext cx="3474720" cy="2286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📊 분석 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1031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R² = 0.164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→ 유동인구는 매출의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  16.4%만 설명 가능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→ 나머지 83.6%는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  다른 요인이 결정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  (입지, 브랜드, 가격,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   상권 특성 등)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11480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4297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💡 해석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572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유동인구만으로 매출을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예측하는 것은 위험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"사람이 많다고 돈을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  쓰는 것은 아니다"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데이터출처: 서울열린데이터광장, 공공데이터포털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통계분석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통계분석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1627631" cy="274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1399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</a:defRPr>
            </a:pPr>
            <a:r>
              <a:t>RANK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</a:defRPr>
            </a:pPr>
            <a:r>
              <a:t>순위 비교: 유동인구 순위 vs 매출 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645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유동인구 TOP 10 역의 매출 순위 현황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11680"/>
            <a:ext cx="109728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039112"/>
            <a:ext cx="365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순위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0391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역명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039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호선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0391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승객(명/일)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039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매출 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39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순위 차이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039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평가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59152"/>
            <a:ext cx="10972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386584"/>
            <a:ext cx="365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38658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강남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238658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2호선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38658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147,676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23865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</a:defRPr>
            </a:pPr>
            <a:r>
              <a:t>+1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238658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679191"/>
            <a:ext cx="365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2679191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성수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2679191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2호선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2679191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121,169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267919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37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679191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</a:defRPr>
            </a:pPr>
            <a:r>
              <a:t>+35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2679191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A3D"/>
                </a:solidFill>
              </a:defRPr>
            </a:pPr>
            <a:r>
              <a:t>⚠️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944368"/>
            <a:ext cx="10972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2971800"/>
            <a:ext cx="365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2971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구로디지털단지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2971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2호선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2971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104,417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2971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48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971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</a:defRPr>
            </a:pPr>
            <a:r>
              <a:t>+45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2971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A3D"/>
                </a:solidFill>
              </a:defRPr>
            </a:pPr>
            <a:r>
              <a:t>⚠️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236976"/>
            <a:ext cx="10972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264408"/>
            <a:ext cx="365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32644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잠실(송파구청)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32644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2호선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32644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102,329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32644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2644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32644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529584"/>
            <a:ext cx="10972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3557016"/>
            <a:ext cx="365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" y="355701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을지로입구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0" y="355701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2호선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0" y="355701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100,660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3520" y="3557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355701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</a:defRPr>
            </a:pPr>
            <a:r>
              <a:t>+50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355701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A3D"/>
                </a:solidFill>
              </a:defRPr>
            </a:pPr>
            <a:r>
              <a:t>⚠️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822191"/>
            <a:ext cx="10972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3849624"/>
            <a:ext cx="365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" y="384962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삼성(무역센터)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0" y="38496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2호선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0" y="384962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97,060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3520" y="38496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19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38496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8A3D"/>
                </a:solidFill>
              </a:defRPr>
            </a:pPr>
            <a:r>
              <a:t>+13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0" y="38496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A3D"/>
                </a:solidFill>
              </a:defRPr>
            </a:pPr>
            <a:r>
              <a:t>⚠️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4142232"/>
            <a:ext cx="365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" y="414223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서울대입구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0" y="41422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2호선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0" y="414223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90,877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3520" y="4142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41422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8A3D"/>
                </a:solidFill>
              </a:defRPr>
            </a:pPr>
            <a:r>
              <a:t>+25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0" y="41422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A3D"/>
                </a:solidFill>
              </a:defRPr>
            </a:pPr>
            <a:r>
              <a:t>⚠️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4407408"/>
            <a:ext cx="10972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4434840"/>
            <a:ext cx="365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" y="4434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영등포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0" y="4434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경부선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57600" y="4434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86,606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03520" y="4434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0" y="4434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</a:defRPr>
            </a:pPr>
            <a:r>
              <a:t>+1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15200" y="4434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4700016"/>
            <a:ext cx="10972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4727448"/>
            <a:ext cx="365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7280" y="4727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역삼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43200" y="47274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2호선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57600" y="4727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86,382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0" y="47274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0" y="47274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</a:defRPr>
            </a:pPr>
            <a:r>
              <a:t>+2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15200" y="47274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4992624"/>
            <a:ext cx="10972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5020056"/>
            <a:ext cx="365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7280" y="502005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명동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0" y="50200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4호선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657600" y="502005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80,949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03520" y="50200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</a:defRPr>
            </a:pPr>
            <a:r>
              <a:t>78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00800" y="50200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</a:defRPr>
            </a:pPr>
            <a:r>
              <a:t>+68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50200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20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Spearman ρ = 0.574  |  유동인구 TOP 10 중 7개 역이 매출 순위와 10단계 이상 차이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데이터출처: 서울열린데이터광장, 공공데이터포털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통계분석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통계분석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1929384" cy="274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17007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</a:defRPr>
            </a:pPr>
            <a:r>
              <a:t>GROUP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</a:defRPr>
            </a:pPr>
            <a:r>
              <a:t>집단 비교: 매출 등급별 유동인구 차이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645920"/>
            <a:ext cx="3474720" cy="2286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📊 t-test 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t = 8.123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p &lt; 0.001 ***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Cohen's d = 1.284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→ 매출 상위 vs 하위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  유동인구 차이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  통계적 유의미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  효과크기 매우 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645920"/>
            <a:ext cx="3474720" cy="2286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A3D"/>
                </a:solidFill>
              </a:defRPr>
            </a:pPr>
            <a:r>
              <a:t>📊 ANOVA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F = 43.832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p &lt; 0.001 ***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η² = 0.271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→ 매출 상/중/하 3그룹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  간 유동인구 차이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  통계적 유의미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</a:defRPr>
            </a:pPr>
            <a:r>
              <a:t>📈 그룹별 평균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194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매출 상위권 평균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  유동인구 4.6만명/일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매출 중위권 평균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  유동인구 2.7만명/일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매출 하위권 평균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  유동인구 1.9만명/일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06240"/>
            <a:ext cx="11247120" cy="18288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💡 종합 해석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매출 상위권 역이 하위권보다 유동인구가 많은 것은 사실 (통계적 유의)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그러나 R²=0.164가 의미하듯, 같은 유동인구라도 매출 편차가 매우 큼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즉 "유동인구가 많다고 무조건 매출이 높은 것은 아니다"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유동인구는 필요조건이지 충분조건이 아님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데이터출처: 서울열린데이터광장, 공공데이터포털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인사이트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1426464" cy="274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1197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</a:defRPr>
            </a:pPr>
            <a:r>
              <a:t>KEY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알짜 상권 vs 거품 상권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508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유동인구 순위와 매출 순위의 차이(격차)로 상권의 진짜 가치를 평가합니다.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t>✅ 알짜 상권 — 승객↓ 매출↑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331720"/>
            <a:ext cx="53035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331720"/>
            <a:ext cx="54864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3774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가락시장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3774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승객 176등 → 매출 69등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3774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-107단계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834639"/>
            <a:ext cx="53035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834639"/>
            <a:ext cx="54864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8803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고덕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28803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승객 158등 → 매출 31등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8803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-127단계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53035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337560"/>
            <a:ext cx="54864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38327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명일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3832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승객 178등 → 매출 51등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38327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-127단계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840480"/>
            <a:ext cx="53035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840480"/>
            <a:ext cx="54864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길동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승객 170등 → 매출 45등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-125단계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343400"/>
            <a:ext cx="53035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343400"/>
            <a:ext cx="54864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389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신설동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승객 198등 → 매출 73등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4389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-125단계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</a:defRPr>
            </a:pPr>
            <a:r>
              <a:t>❌ 거품 상권 — 승객↑ 매출↓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2331720"/>
            <a:ext cx="53035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2331720"/>
            <a:ext cx="54864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23774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혜화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23774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승객 11등 → 매출 232등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23774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+221단계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2834639"/>
            <a:ext cx="53035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0" y="2834639"/>
            <a:ext cx="54864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28803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명동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28803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승객 10등 → 매출 78등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28803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+68단계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3337560"/>
            <a:ext cx="53035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0" y="3337560"/>
            <a:ext cx="54864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0" y="338327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을지로입구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33832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승객 5등 → 매출 55등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20" y="338327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+50단계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3840480"/>
            <a:ext cx="53035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0" y="3840480"/>
            <a:ext cx="54864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구로디지털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승객 3등 → 매출 48등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+45단계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0" y="4343400"/>
            <a:ext cx="53035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00800" y="4343400"/>
            <a:ext cx="54864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0" y="4389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성수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승객 2등 → 매출 37등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32720" y="4389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+35단계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5120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💡 핵심 인사이트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5440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유동인구가 많다고 좋은 상권이 아닙니다. 진짜 살아있는 상권은 "사람이 지나가는 곳"이 아니라 "소비가 발생하는 곳"입니다.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데이터출처: 서울열린데이터광장, 공공데이터포털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인사이트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1527048" cy="274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</a:defRPr>
            </a:pPr>
            <a:r>
              <a:t>TYPE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역 유형별 전략적 시사점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73736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73736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🏙️ 도착형 (하차&gt;승차)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2860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유동인구 = 매출 일치도 높음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560320"/>
            <a:ext cx="3108960" cy="1371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소비 집중형 — 유입 인구가 곧 매출로 연결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08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커피·편의점·한식 등 B2C 업종 강세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높은 임대료 감수 가능, 안정적 매출 기대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추천: 프랜차이즈 커피, 편의점, 한식당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173736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173736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🏠 출발형 (승차&gt;하차)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2860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유동인구 대비 매출 낮음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56032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통근형 — 지나가는 수요가 대부분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108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출퇴근 시간대 특화 업종 가능 (베이커리 등)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임대료 부담 적으나, 매출 기대치 낮음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840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추천: 테이크아웃, 베이커리, 세탁소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173736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173736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⚖️ 균형형 (승하차 유사)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860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안정적인 상권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2560320"/>
            <a:ext cx="3108960" cy="137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승하차 균형 — 유동인구 대비 안정적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108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다양한 업종 구성으로 리스크 분산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주거+상업 혼합 지역에 많음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840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추천: 생활밀착형 업종 다양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데이터출처: 서울열린데이터광장, 공공데이터포털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1728216" cy="274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창업 추천: 알짜 상권 TOP 5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1874519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1737360"/>
            <a:ext cx="5029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가락시장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송파구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-107단계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2860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승객 176등 → 매출 69등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737360"/>
            <a:ext cx="530352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920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전통시장 상권,  |  목적성 소비 강함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27889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2651760"/>
            <a:ext cx="5029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26974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고덕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017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강동구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-127단계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2004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승객 158등 → 매출 31등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651760"/>
            <a:ext cx="530352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834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주거지 기반  |  안정적 수요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37033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88720" y="3566160"/>
            <a:ext cx="5029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36118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명일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931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강동구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-127단계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1148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승객 178등 → 매출 51등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566160"/>
            <a:ext cx="530352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749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지역밀착형  |  소비 중심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4617720"/>
            <a:ext cx="548640" cy="5486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88720" y="4480560"/>
            <a:ext cx="5029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4526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길동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4846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강동구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-125단계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0292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승객 170등 → 매출 45등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480560"/>
            <a:ext cx="530352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4663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유동인구 대비  |  매출 효율 높음</a:t>
            </a:r>
          </a:p>
        </p:txBody>
      </p:sp>
      <p:sp>
        <p:nvSpPr>
          <p:cNvPr id="48" name="Oval 47"/>
          <p:cNvSpPr/>
          <p:nvPr/>
        </p:nvSpPr>
        <p:spPr>
          <a:xfrm>
            <a:off x="457200" y="5532120"/>
            <a:ext cx="548640" cy="5486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88720" y="5394960"/>
            <a:ext cx="5029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신설동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5760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동대문구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-125단계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" y="59436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승객 198등 → 매출 73등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5394960"/>
            <a:ext cx="530352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5577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임대료 부담 낮음  |  매출 효율↑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데이터출처: 서울열린데이터광장, 공공데이터포털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1426464" cy="274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1197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ACTION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실행 계획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645920"/>
            <a:ext cx="5303520" cy="4114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✅ DO — 추천 행동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1. 유동인구와 매출 데이터를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 함께 분석하여 입지 선정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2. 환승역보다 "목적성 방문"이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 많은 역을 우선 고려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3. 알짜 상권(가락시장, 고덕 등)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 은 임대료 저렴 + 수익성 좋음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4. 창업 전 해당 역의 매출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 순위와 격차 확인 필수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❌ DON'T — 주의사항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1. 유동인구만 보고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 "사람 많으니까 되겠지" 하며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 입지 선택 금지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2. 명동·혜화 같은 거품 상권에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 높은 임대료 지불 주의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3. 단순 환승역은 유동인구가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 많아도 소비 전환율 낮음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4. SNS 유행만 쫓는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   무분별한 창업 지양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035040"/>
            <a:ext cx="11247120" cy="365760"/>
          </a:xfrm>
          <a:prstGeom prst="round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1081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Expected Impact: 데이터 기반 의사결정으로 창업 성공률↑ · 폐업률↓ · 임대료 최적화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데이터출처: 서울열린데이터광장, 공공데이터포털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0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1325880" cy="274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</a:defRPr>
            </a:pPr>
            <a: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결론 및 시사점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645920"/>
            <a:ext cx="11247120" cy="2011680"/>
          </a:xfrm>
          <a:prstGeom prst="round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9D0C3"/>
                </a:solidFill>
              </a:defRPr>
            </a:pPr>
            <a:r>
              <a:t>🎯 Final 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"유동인구가 많은 역이 반드시 살아있는 상권은 아닙니다."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834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진정한 살아있는 상권은 사람이 많이 지나가는 곳이 아니라, 실제 소비와 매출이 발생하는 곳입니다.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9D0C3"/>
                </a:solidFill>
              </a:defRPr>
            </a:pPr>
            <a:r>
              <a:t>R² = 0.164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유동인구는 매출의</a:t>
            </a:r>
            <a:br/>
            <a:r>
              <a:t>16.4%만 설명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93192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4023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</a:defRPr>
            </a:pPr>
            <a:r>
              <a:t>ρ = 0.574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754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순위 일치도 불완전</a:t>
            </a:r>
            <a:br/>
            <a:r>
              <a:t>완벽한 상관 아님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93192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023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A3D"/>
                </a:solidFill>
              </a:defRPr>
            </a:pPr>
            <a:r>
              <a:t>알짜 vs 거품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754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유동인구≠매출</a:t>
            </a:r>
            <a:br/>
            <a:r>
              <a:t>상권별 격차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93192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59" y="4023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59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</a:defRPr>
            </a:pPr>
            <a:r>
              <a:t>데이터 기반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59" y="4754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유동인구+매출 함께</a:t>
            </a:r>
            <a:br/>
            <a:r>
              <a:t>분석하여 입지 선정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데이터출처: 서울열린데이터광장, 공공데이터포털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96712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1112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5511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9911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54311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68711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추천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0" y="109728"/>
            <a:ext cx="822960" cy="347472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83111" y="1463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결론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291840"/>
            <a:ext cx="2103120" cy="36576"/>
          </a:xfrm>
          <a:prstGeom prst="rect">
            <a:avLst/>
          </a:prstGeom>
          <a:solidFill>
            <a:srgbClr val="39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9D0C3"/>
                </a:solidFill>
              </a:defRPr>
            </a:pPr>
            <a:r>
              <a:t>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데이터 출처: 서울열린데이터광장, 공공데이터포털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이어드림스쿨 6기  |  데이터 분석 프로젝트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7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프로젝트개요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데이터분석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55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SCQA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99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통계분석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543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인사이트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09728"/>
            <a:ext cx="82296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87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1" y="146304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결론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77240"/>
            <a:ext cx="1124712" cy="274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813816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</a:defRPr>
            </a:pPr>
            <a:r>
              <a:t>알짜 상권에서 새로운 창업을 시작하세요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데이터가 증명한 진짜 살아있는 상권입니다.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011680"/>
            <a:ext cx="20116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2011680"/>
            <a:ext cx="4572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2057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가락시장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3317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송파구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121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승객 176등 → 매출 69등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057400"/>
            <a:ext cx="109728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0848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-107단계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35915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4A3B8"/>
                </a:solidFill>
              </a:defRPr>
            </a:pPr>
            <a:r>
              <a:t>순위격차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2816352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2724912"/>
            <a:ext cx="20116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2724912"/>
            <a:ext cx="4572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2770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고덕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0449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강동구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승객 158등 → 매출 31등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770632"/>
            <a:ext cx="109728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7980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-127단계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072384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4A3B8"/>
                </a:solidFill>
              </a:defRPr>
            </a:pPr>
            <a:r>
              <a:t>순위격차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" y="3529584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3438144"/>
            <a:ext cx="20116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0" y="3438144"/>
            <a:ext cx="4572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34838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명일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75818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강동구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3547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승객 178등 → 매출 51등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483864"/>
            <a:ext cx="109728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35112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-127단계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785616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4A3B8"/>
                </a:solidFill>
              </a:defRPr>
            </a:pPr>
            <a:r>
              <a:t>순위격차</a:t>
            </a:r>
          </a:p>
        </p:txBody>
      </p:sp>
      <p:sp>
        <p:nvSpPr>
          <p:cNvPr id="44" name="Oval 43"/>
          <p:cNvSpPr/>
          <p:nvPr/>
        </p:nvSpPr>
        <p:spPr>
          <a:xfrm>
            <a:off x="457200" y="4242816"/>
            <a:ext cx="457200" cy="4572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97280" y="4151376"/>
            <a:ext cx="20116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7280" y="4151376"/>
            <a:ext cx="4572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0" y="4197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길동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4714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강동구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42611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승객 170등 → 매출 45등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4197096"/>
            <a:ext cx="109728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42245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-125단계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498848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4A3B8"/>
                </a:solidFill>
              </a:defRPr>
            </a:pPr>
            <a:r>
              <a:t>순위격차</a:t>
            </a:r>
          </a:p>
        </p:txBody>
      </p:sp>
      <p:sp>
        <p:nvSpPr>
          <p:cNvPr id="53" name="Oval 52"/>
          <p:cNvSpPr/>
          <p:nvPr/>
        </p:nvSpPr>
        <p:spPr>
          <a:xfrm>
            <a:off x="457200" y="4956048"/>
            <a:ext cx="457200" cy="4572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97280" y="4864608"/>
            <a:ext cx="20116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97280" y="4864608"/>
            <a:ext cx="4572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80160" y="4910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신설동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1846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동대문구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49743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승객 198등 → 매출 73등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4910328"/>
            <a:ext cx="109728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-125단계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5212080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4A3B8"/>
                </a:solidFill>
              </a:defRPr>
            </a:pPr>
            <a:r>
              <a:t>순위격차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760720"/>
            <a:ext cx="11247120" cy="548640"/>
          </a:xfrm>
          <a:prstGeom prst="round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58247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이곳에서 새로운 창업을 시작하세요 — 데이터가 증명한 알짜 입지입니다.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CONFIDENTIAL  |  데이터출처: 서울열린데이터광장, 공공데이터포털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